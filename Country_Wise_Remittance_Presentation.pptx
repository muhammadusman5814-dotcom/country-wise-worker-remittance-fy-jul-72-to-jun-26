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30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Remittance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Cash Flow</c:v>
                </c:pt>
                <c:pt idx="1">
                  <c:v>Dubai</c:v>
                </c:pt>
                <c:pt idx="2">
                  <c:v>GCC Countries</c:v>
                </c:pt>
                <c:pt idx="3">
                  <c:v>Saudi Arabia</c:v>
                </c:pt>
                <c:pt idx="4">
                  <c:v>UAE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716.22</c:v>
                </c:pt>
                <c:pt idx="1">
                  <c:v>96.92</c:v>
                </c:pt>
                <c:pt idx="2">
                  <c:v>84.5</c:v>
                </c:pt>
                <c:pt idx="3">
                  <c:v>190.81</c:v>
                </c:pt>
                <c:pt idx="4">
                  <c:v>141.53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8C-4012-AC2B-F93EA02F14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Remittance</c:v>
                </c:pt>
              </c:strCache>
            </c:strRef>
          </c:tx>
          <c:spPr>
            <a:solidFill>
              <a:srgbClr val="F9A8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Switzerland</c:v>
                </c:pt>
                <c:pt idx="1">
                  <c:v>Sweden</c:v>
                </c:pt>
                <c:pt idx="2">
                  <c:v>Japan</c:v>
                </c:pt>
                <c:pt idx="3">
                  <c:v>Netherlands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1.7</c:v>
                </c:pt>
                <c:pt idx="2">
                  <c:v>1.3</c:v>
                </c:pt>
                <c:pt idx="3">
                  <c:v>0.95</c:v>
                </c:pt>
                <c:pt idx="4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32-4541-9E5E-BAD8E60186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Arial"/>
              </a:rPr>
              <a:t>Sum of Remittance by Month (K USD)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Remittance (USD, K)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Mar</c:v>
                </c:pt>
                <c:pt idx="1">
                  <c:v>May</c:v>
                </c:pt>
                <c:pt idx="2">
                  <c:v>Jun</c:v>
                </c:pt>
                <c:pt idx="3">
                  <c:v>Apr</c:v>
                </c:pt>
                <c:pt idx="4">
                  <c:v>Oct</c:v>
                </c:pt>
                <c:pt idx="5">
                  <c:v>Dec</c:v>
                </c:pt>
                <c:pt idx="6">
                  <c:v>Aug</c:v>
                </c:pt>
                <c:pt idx="7">
                  <c:v>Jul</c:v>
                </c:pt>
                <c:pt idx="8">
                  <c:v>Sep</c:v>
                </c:pt>
                <c:pt idx="9">
                  <c:v>Jan</c:v>
                </c:pt>
                <c:pt idx="10">
                  <c:v>Nov</c:v>
                </c:pt>
                <c:pt idx="11">
                  <c:v>Feb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103</c:v>
                </c:pt>
                <c:pt idx="1">
                  <c:v>102</c:v>
                </c:pt>
                <c:pt idx="2">
                  <c:v>103</c:v>
                </c:pt>
                <c:pt idx="3">
                  <c:v>98</c:v>
                </c:pt>
                <c:pt idx="4">
                  <c:v>94</c:v>
                </c:pt>
                <c:pt idx="5">
                  <c:v>94</c:v>
                </c:pt>
                <c:pt idx="6">
                  <c:v>93</c:v>
                </c:pt>
                <c:pt idx="7">
                  <c:v>93</c:v>
                </c:pt>
                <c:pt idx="8">
                  <c:v>91</c:v>
                </c:pt>
                <c:pt idx="9">
                  <c:v>90</c:v>
                </c:pt>
                <c:pt idx="10">
                  <c:v>89</c:v>
                </c:pt>
                <c:pt idx="11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ED-473B-9137-A66103B884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Arial"/>
              </a:rPr>
              <a:t>Average Remittance by Month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Remittance</c:v>
                </c:pt>
              </c:strCache>
            </c:strRef>
          </c:tx>
          <c:spPr>
            <a:ln w="31750" cap="flat">
              <a:solidFill>
                <a:srgbClr val="F9A8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A826"/>
              </a:solidFill>
              <a:ln w="9525" cap="flat">
                <a:solidFill>
                  <a:srgbClr val="F9A82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Mar</c:v>
                </c:pt>
                <c:pt idx="1">
                  <c:v>May</c:v>
                </c:pt>
                <c:pt idx="2">
                  <c:v>Jun</c:v>
                </c:pt>
                <c:pt idx="3">
                  <c:v>Apr</c:v>
                </c:pt>
                <c:pt idx="4">
                  <c:v>Oct</c:v>
                </c:pt>
                <c:pt idx="5">
                  <c:v>Dec</c:v>
                </c:pt>
                <c:pt idx="6">
                  <c:v>Aug</c:v>
                </c:pt>
                <c:pt idx="7">
                  <c:v>Jul</c:v>
                </c:pt>
                <c:pt idx="8">
                  <c:v>Sep</c:v>
                </c:pt>
                <c:pt idx="9">
                  <c:v>Jan</c:v>
                </c:pt>
                <c:pt idx="10">
                  <c:v>Nov</c:v>
                </c:pt>
                <c:pt idx="11">
                  <c:v>Feb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56</c:v>
                </c:pt>
                <c:pt idx="1">
                  <c:v>56</c:v>
                </c:pt>
                <c:pt idx="2">
                  <c:v>56</c:v>
                </c:pt>
                <c:pt idx="3">
                  <c:v>53</c:v>
                </c:pt>
                <c:pt idx="4">
                  <c:v>51</c:v>
                </c:pt>
                <c:pt idx="5">
                  <c:v>51</c:v>
                </c:pt>
                <c:pt idx="6">
                  <c:v>51</c:v>
                </c:pt>
                <c:pt idx="7">
                  <c:v>51</c:v>
                </c:pt>
                <c:pt idx="8">
                  <c:v>49</c:v>
                </c:pt>
                <c:pt idx="9">
                  <c:v>49</c:v>
                </c:pt>
                <c:pt idx="10">
                  <c:v>48</c:v>
                </c:pt>
                <c:pt idx="11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98-4AC0-AF1F-9D13766FBD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4751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Country-Wise Worker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Remittance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analysis of Pakistan's worker remittances across 34 countries, FY 1972 – FY 2026 (55 years)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State Bank of Pakistan (SBP) — Country-wise Workers' Remittances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consolidating 55 years of country-wise worker remittance data into a single, decision-ready view — built to demonstrate data modelling, DAX, and dashboard storytelling.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889504"/>
            <a:ext cx="146304" cy="146304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72491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55 years of remittance data into one view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456432"/>
            <a:ext cx="146304" cy="146304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91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&amp; bottom performing countries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146304" cy="146304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8587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monthly / seasonal remittance patterns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590288"/>
            <a:ext cx="146304" cy="146304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2569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self-serve analysis via Country, Month &amp; Year slicers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1143000"/>
            <a:ext cx="5120640" cy="5212080"/>
          </a:xfrm>
          <a:prstGeom prst="roundRect">
            <a:avLst>
              <a:gd name="adj" fmla="val 2143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417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2057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2560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0" y="3063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3566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 (FY72–FY26)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0" y="40690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1,136,884.20 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remittance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0" y="50749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51.60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58000" y="5577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remittance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Bank of Pakistan (SBP)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Country-wise Workers' Remittances — Zone Smart dataset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6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“Base card built on data, not opinion.”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July-72 to FY Jun-26  •  55 fiscal years  •  34 countries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280160"/>
            <a:ext cx="5349240" cy="493776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Slicer Format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29400" y="214884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1488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1999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29400" y="283464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834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89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352044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5204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0" y="3520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2001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420624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2062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and so 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52120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last two digits of the fiscal year to filter the dashboard.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KPI cards, ranked visuals, and monthly trend lines in one 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9050">
            <a:solidFill>
              <a:srgbClr val="DDE3F0"/>
            </a:solidFill>
            <a:prstDash val="solid"/>
          </a:ln>
          <a:effectLst>
            <a:outerShdw blurRad="127000" dist="38100" dir="5400000" algn="bl" rotWithShape="0">
              <a:srgbClr val="8A94B8">
                <a:alpha val="35000"/>
              </a:srgbClr>
            </a:outerShdw>
          </a:effectLst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84" y="1577880"/>
            <a:ext cx="11006735" cy="4865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Countries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23774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1,136,884.20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11880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Remittance (Million)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774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51.60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37960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Remittance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0" y="23774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464040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Years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34 countries and 55 fiscal years, Pakistan received a cumulative 1,136,884.20 million in worker remittances — an average of 51.60 per country/category tracked.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vs. Lowest Average Remittance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— Highest Average</a:t>
            </a:r>
            <a:endParaRPr lang="en-US" sz="1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2011680"/>
          <a:ext cx="4937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23444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463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— Lowest Average</a:t>
            </a:r>
            <a:endParaRPr lang="en-US" sz="17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492240" y="2011680"/>
          <a:ext cx="49377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Remittance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Remittances peak in March and taper toward Jan–Feb — four months (Mar, Jun, May, Apr) run above the yearly average.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3949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508760"/>
          <a:ext cx="53949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Above Average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498348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49834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103120" y="498348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2103120" y="49834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657600" y="498348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3657600" y="49834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212080" y="498348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5212080" y="49834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138160" y="4983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Mar–Jun window likely reflects seasonal transfers tied to religious and cultural occasions, when overseas workers increase remittances home.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 Applied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276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4813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1481328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modelling, DAX measures, interactive slicers and dashboard layout.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8620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62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71576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Data Integration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77840" y="2715768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 55-year official SBP dataset end-to-end.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096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95020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&amp; Visual Design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77840" y="3950208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visuals, ranked tables, bar charts, and trend lines.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53309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30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1846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Storytelling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77840" y="5184648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visuals to answer who, when, and how much at a glance.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turns 55 years of official remittance data into a clear, interactive analytical tool — demonstrating strong Power BI fundamentals and genuine business insight: inflows are concentrated in a few corridors (Cash Flow, Saudi Arabia, UAE) with a clear seasonal peak from March to June.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096512"/>
            <a:ext cx="128016" cy="128016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931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growth measures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599432"/>
            <a:ext cx="128016" cy="128016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434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Currency-adjusted (real) remittance trends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5102352"/>
            <a:ext cx="128016" cy="128016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937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future fiscal years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494</Words>
  <Application>Microsoft Office PowerPoint</Application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usman</cp:lastModifiedBy>
  <cp:revision>2</cp:revision>
  <dcterms:created xsi:type="dcterms:W3CDTF">2026-08-09T12:26:11Z</dcterms:created>
  <dcterms:modified xsi:type="dcterms:W3CDTF">2026-08-09T12:29:48Z</dcterms:modified>
</cp:coreProperties>
</file>